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287000" cx="18288000"/>
  <p:notesSz cx="6858000" cy="9144000"/>
  <p:embeddedFontLst>
    <p:embeddedFont>
      <p:font typeface="Poppins"/>
      <p:bold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oppins-boldItalic.fntdata"/><Relationship Id="rId12"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こんにちは。チーム「おなご」の長岡美甫と中本明里です。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本日は、私たちが開発したWebアプリ「ともたび」について発表します。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皆さんは、友人との旅行やイベントで、お金の立て替えや精算が面倒だと感じたことはありませんか？ 「ともたび」は、そんな旅行やイベントでのお金の管理と、それに伴う予定の管理を一括で行えるWebアプリです。</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ともたびのコンセプトは、支払いの登録と自動精算によって、メンバー間の金銭的な負担を「見える化」することです。 これにより、面倒な計算の手間を省きます。</a:t>
            </a:r>
            <a:endParaRPr/>
          </a:p>
          <a:p>
            <a:pPr indent="0" lvl="0" marL="0" rtl="0" algn="l">
              <a:lnSpc>
                <a:spcPct val="115000"/>
              </a:lnSpc>
              <a:spcBef>
                <a:spcPts val="1200"/>
              </a:spcBef>
              <a:spcAft>
                <a:spcPts val="0"/>
              </a:spcAft>
              <a:buNone/>
            </a:pPr>
            <a:r>
              <a:rPr lang="en-US"/>
              <a:t>さらに、カレンダー機能でグループごとの予定も一括で管理できます。</a:t>
            </a:r>
            <a:endParaRPr/>
          </a:p>
          <a:p>
            <a:pPr indent="0" lvl="0" marL="0" rtl="0" algn="l">
              <a:lnSpc>
                <a:spcPct val="115000"/>
              </a:lnSpc>
              <a:spcBef>
                <a:spcPts val="1200"/>
              </a:spcBef>
              <a:spcAft>
                <a:spcPts val="0"/>
              </a:spcAft>
              <a:buNone/>
            </a:pPr>
            <a:r>
              <a:rPr lang="en-US"/>
              <a:t>主な機能はご覧の通りです。</a:t>
            </a:r>
            <a:endParaRPr/>
          </a:p>
          <a:p>
            <a:pPr indent="0" lvl="0" marL="0" rtl="0" algn="l">
              <a:lnSpc>
                <a:spcPct val="115000"/>
              </a:lnSpc>
              <a:spcBef>
                <a:spcPts val="1200"/>
              </a:spcBef>
              <a:spcAft>
                <a:spcPts val="0"/>
              </a:spcAft>
              <a:buNone/>
            </a:pPr>
            <a:r>
              <a:rPr lang="en-US"/>
              <a:t>Firebaseによるログイン認証、プロフィールを設定できるマイページ、旅費の割り勘機能、グループ管理機能、そしてカレンダーでの予定管理機能を実装しました。</a:t>
            </a:r>
            <a:endParaRPr/>
          </a:p>
          <a:p>
            <a:pPr indent="0" lvl="0" marL="0" rtl="0" algn="l">
              <a:lnSpc>
                <a:spcPct val="115000"/>
              </a:lnSpc>
              <a:spcBef>
                <a:spcPts val="1200"/>
              </a:spcBef>
              <a:spcAft>
                <a:spcPts val="0"/>
              </a:spcAft>
              <a:buNone/>
            </a:pPr>
            <a:r>
              <a:rPr lang="en-US"/>
              <a:t>開発には、フロントエンドにReact、バックエンドにFirebaseを使用しています。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50e0ef904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それでは、実際のアプリの動作をご覧ください。</a:t>
            </a:r>
            <a:endParaRPr/>
          </a:p>
          <a:p>
            <a:pPr indent="0" lvl="0" marL="0" rtl="0" algn="l">
              <a:lnSpc>
                <a:spcPct val="115000"/>
              </a:lnSpc>
              <a:spcBef>
                <a:spcPts val="1200"/>
              </a:spcBef>
              <a:spcAft>
                <a:spcPts val="0"/>
              </a:spcAft>
              <a:buNone/>
            </a:pPr>
            <a:r>
              <a:rPr lang="en-US"/>
              <a:t>まず、登録したアカウントでログインします。</a:t>
            </a:r>
            <a:endParaRPr/>
          </a:p>
          <a:p>
            <a:pPr indent="0" lvl="0" marL="0" rtl="0" algn="l">
              <a:lnSpc>
                <a:spcPct val="115000"/>
              </a:lnSpc>
              <a:spcBef>
                <a:spcPts val="1200"/>
              </a:spcBef>
              <a:spcAft>
                <a:spcPts val="0"/>
              </a:spcAft>
              <a:buNone/>
            </a:pPr>
            <a:r>
              <a:rPr lang="en-US"/>
              <a:t> ログインすると、参加しているグループの一覧が表示されます。今回は「おなご」というグループを選択します。</a:t>
            </a:r>
            <a:endParaRPr/>
          </a:p>
          <a:p>
            <a:pPr indent="0" lvl="0" marL="0" rtl="0" algn="l">
              <a:lnSpc>
                <a:spcPct val="115000"/>
              </a:lnSpc>
              <a:spcBef>
                <a:spcPts val="1200"/>
              </a:spcBef>
              <a:spcAft>
                <a:spcPts val="0"/>
              </a:spcAft>
              <a:buNone/>
            </a:pPr>
            <a:r>
              <a:rPr lang="en-US"/>
              <a:t>こちらがグループ詳細画面です。現在のメンバーや支払い履歴を確認できます。新しいメンバーは、ユーザーIDを入力して簡単に追加できます。</a:t>
            </a:r>
            <a:endParaRPr/>
          </a:p>
          <a:p>
            <a:pPr indent="0" lvl="0" marL="0" rtl="0" algn="l">
              <a:lnSpc>
                <a:spcPct val="115000"/>
              </a:lnSpc>
              <a:spcBef>
                <a:spcPts val="1200"/>
              </a:spcBef>
              <a:spcAft>
                <a:spcPts val="0"/>
              </a:spcAft>
              <a:buClr>
                <a:schemeClr val="dk1"/>
              </a:buClr>
              <a:buSzPts val="1100"/>
              <a:buFont typeface="Arial"/>
              <a:buNone/>
            </a:pPr>
            <a:r>
              <a:rPr lang="en-US"/>
              <a:t>次に、支払いを登録します。「支払いを追加する」ボタンを押し、金額、内容、そして対象メンバーを選択して追加します。今回は1万円の立て替えを登録しました。</a:t>
            </a:r>
            <a:endParaRPr/>
          </a:p>
          <a:p>
            <a:pPr indent="0" lvl="0" marL="0" rtl="0" algn="l">
              <a:lnSpc>
                <a:spcPct val="115000"/>
              </a:lnSpc>
              <a:spcBef>
                <a:spcPts val="1200"/>
              </a:spcBef>
              <a:spcAft>
                <a:spcPts val="0"/>
              </a:spcAft>
              <a:buNone/>
            </a:pPr>
            <a:r>
              <a:rPr lang="en-US"/>
              <a:t>「精算状況を見る」ボタンを押すと、自動で割り勘計算された結果が表示され、誰が誰にいくら支払えばいいかが一目で分かります。</a:t>
            </a:r>
            <a:endParaRPr/>
          </a:p>
          <a:p>
            <a:pPr indent="0" lvl="0" marL="0" rtl="0" algn="l">
              <a:lnSpc>
                <a:spcPct val="115000"/>
              </a:lnSpc>
              <a:spcBef>
                <a:spcPts val="1200"/>
              </a:spcBef>
              <a:spcAft>
                <a:spcPts val="0"/>
              </a:spcAft>
              <a:buClr>
                <a:schemeClr val="dk1"/>
              </a:buClr>
              <a:buSzPts val="1100"/>
              <a:buFont typeface="Arial"/>
              <a:buNone/>
            </a:pPr>
            <a:r>
              <a:rPr lang="en-US"/>
              <a:t> マイページでは、他のユーザーをIDで検索し、友達として追加することができます。</a:t>
            </a:r>
            <a:endParaRPr/>
          </a:p>
          <a:p>
            <a:pPr indent="0" lvl="0" marL="0" rtl="0" algn="l">
              <a:lnSpc>
                <a:spcPct val="115000"/>
              </a:lnSpc>
              <a:spcBef>
                <a:spcPts val="1200"/>
              </a:spcBef>
              <a:spcAft>
                <a:spcPts val="0"/>
              </a:spcAft>
              <a:buClr>
                <a:schemeClr val="dk1"/>
              </a:buClr>
              <a:buSzPts val="1100"/>
              <a:buFont typeface="Arial"/>
              <a:buNone/>
            </a:pPr>
            <a:r>
              <a:rPr lang="en-US"/>
              <a:t>カレンダー機能では、グループごとの予定を月ごとに確認できます。新しい予定も、日付、内容、グループを選んで簡単に追加可能です。</a:t>
            </a:r>
            <a:endParaRPr/>
          </a:p>
          <a:p>
            <a:pPr indent="0" lvl="0" marL="0" rtl="0" algn="l">
              <a:lnSpc>
                <a:spcPct val="115000"/>
              </a:lnSpc>
              <a:spcBef>
                <a:spcPts val="1200"/>
              </a:spcBef>
              <a:spcAft>
                <a:spcPts val="0"/>
              </a:spcAft>
              <a:buClr>
                <a:schemeClr val="dk1"/>
              </a:buClr>
              <a:buSzPts val="1100"/>
              <a:buFont typeface="Arial"/>
              <a:buNone/>
            </a:pPr>
            <a:r>
              <a:rPr lang="en-US"/>
              <a:t> 最後に設定ページです。ここで表示名やアイコンを変更できます</a:t>
            </a:r>
            <a:endParaRPr/>
          </a:p>
          <a:p>
            <a:pPr indent="0" lvl="0" marL="0" rtl="0" algn="l">
              <a:spcBef>
                <a:spcPts val="1200"/>
              </a:spcBef>
              <a:spcAft>
                <a:spcPts val="0"/>
              </a:spcAft>
              <a:buNone/>
            </a:pPr>
            <a:r>
              <a:t/>
            </a:r>
            <a:endParaRPr/>
          </a:p>
        </p:txBody>
      </p:sp>
      <p:sp>
        <p:nvSpPr>
          <p:cNvPr id="129" name="Google Shape;129;g3450e0ef904_3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私たちのアプリのアピールポイントは3つあります。</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a:solidFill>
                  <a:schemeClr val="dk1"/>
                </a:solidFill>
              </a:rPr>
              <a:t>アプリとしての完成度</a:t>
            </a:r>
            <a:br>
              <a:rPr b="1" lang="en-US">
                <a:solidFill>
                  <a:schemeClr val="dk1"/>
                </a:solidFill>
              </a:rPr>
            </a:br>
            <a:r>
              <a:rPr lang="en-US">
                <a:solidFill>
                  <a:schemeClr val="dk1"/>
                </a:solidFill>
              </a:rPr>
              <a:t> 割り勘だけでなく、マイページ設定や予定管理といった周辺機能も充実させ、一つのアプリとして完結するように構成しました。</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データベースを用いたユーザー管理</a:t>
            </a:r>
            <a:br>
              <a:rPr b="1" lang="en-US">
                <a:solidFill>
                  <a:schemeClr val="dk1"/>
                </a:solidFill>
              </a:rPr>
            </a:br>
            <a:r>
              <a:rPr lang="en-US">
                <a:solidFill>
                  <a:schemeClr val="dk1"/>
                </a:solidFill>
              </a:rPr>
              <a:t> Firebaseを活用し、安全なユーザー認証と、グループでのリアルタイムな情報共有を可能にしました。</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親しみやすいUI</a:t>
            </a:r>
            <a:br>
              <a:rPr b="1" lang="en-US">
                <a:solidFill>
                  <a:schemeClr val="dk1"/>
                </a:solidFill>
              </a:rPr>
            </a:br>
            <a:r>
              <a:rPr lang="en-US">
                <a:solidFill>
                  <a:schemeClr val="dk1"/>
                </a:solidFill>
              </a:rPr>
              <a:t> サイドバーによるスムーズなページ遷移や、緑を基調とした統一感のあるデザインで、誰もが直感的に使えるよう工夫しました</a:t>
            </a:r>
            <a:endParaRPr>
              <a:solidFill>
                <a:schemeClr val="dk1"/>
              </a:solidFill>
            </a:endParaRPr>
          </a:p>
          <a:p>
            <a:pPr indent="0" lvl="0" marL="0" rtl="0" algn="l">
              <a:spcBef>
                <a:spcPts val="1200"/>
              </a:spcBef>
              <a:spcAft>
                <a:spcPts val="0"/>
              </a:spcAft>
              <a:buNone/>
            </a:pPr>
            <a:r>
              <a:t/>
            </a:r>
            <a:endParaRPr/>
          </a:p>
        </p:txBody>
      </p:sp>
      <p:sp>
        <p:nvSpPr>
          <p:cNvPr id="139" name="Google Shape;1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「ともたび」が、皆さんの友人との楽しい思い出作りをもっと快適にする一助となれば幸いです。</a:t>
            </a:r>
            <a:endParaRPr/>
          </a:p>
          <a:p>
            <a:pPr indent="0" lvl="0" marL="0" rtl="0" algn="l">
              <a:lnSpc>
                <a:spcPct val="115000"/>
              </a:lnSpc>
              <a:spcBef>
                <a:spcPts val="1200"/>
              </a:spcBef>
              <a:spcAft>
                <a:spcPts val="0"/>
              </a:spcAft>
              <a:buClr>
                <a:schemeClr val="dk1"/>
              </a:buClr>
              <a:buSzPts val="1100"/>
              <a:buFont typeface="Arial"/>
              <a:buNone/>
            </a:pPr>
            <a:r>
              <a:rPr lang="en-US"/>
              <a:t>以上で発表を終わります。ご清聴いただき、ありがとうございました。</a:t>
            </a:r>
            <a:endParaRPr/>
          </a:p>
          <a:p>
            <a:pPr indent="0" lvl="0" marL="0" rtl="0" algn="l">
              <a:spcBef>
                <a:spcPts val="1200"/>
              </a:spcBef>
              <a:spcAft>
                <a:spcPts val="0"/>
              </a:spcAft>
              <a:buNone/>
            </a:pPr>
            <a:r>
              <a:t/>
            </a:r>
            <a:endParaRPr/>
          </a:p>
        </p:txBody>
      </p:sp>
      <p:sp>
        <p:nvSpPr>
          <p:cNvPr id="190" name="Google Shape;19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drive.google.com/file/d/1JUWwd8TXghBSXuyrzunve2M16sshMAzq/view"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rot="-10690249">
            <a:off x="-2244199" y="-1759745"/>
            <a:ext cx="7855145" cy="7638757"/>
          </a:xfrm>
          <a:custGeom>
            <a:rect b="b" l="l" r="r" t="t"/>
            <a:pathLst>
              <a:path extrusionOk="0" h="5907235" w="6268377">
                <a:moveTo>
                  <a:pt x="0" y="0"/>
                </a:moveTo>
                <a:lnTo>
                  <a:pt x="6268376" y="0"/>
                </a:lnTo>
                <a:lnTo>
                  <a:pt x="6268376" y="5907236"/>
                </a:lnTo>
                <a:lnTo>
                  <a:pt x="0" y="5907236"/>
                </a:lnTo>
                <a:lnTo>
                  <a:pt x="0" y="0"/>
                </a:lnTo>
                <a:close/>
              </a:path>
            </a:pathLst>
          </a:custGeom>
          <a:blipFill rotWithShape="1">
            <a:blip r:embed="rId3">
              <a:alphaModFix/>
            </a:blip>
            <a:stretch>
              <a:fillRect b="0" l="0" r="0" t="0"/>
            </a:stretch>
          </a:blipFill>
          <a:ln>
            <a:noFill/>
          </a:ln>
        </p:spPr>
      </p:sp>
      <p:cxnSp>
        <p:nvCxnSpPr>
          <p:cNvPr id="85" name="Google Shape;85;p13"/>
          <p:cNvCxnSpPr/>
          <p:nvPr/>
        </p:nvCxnSpPr>
        <p:spPr>
          <a:xfrm>
            <a:off x="-648479" y="8870986"/>
            <a:ext cx="19584957" cy="0"/>
          </a:xfrm>
          <a:prstGeom prst="straightConnector1">
            <a:avLst/>
          </a:prstGeom>
          <a:noFill/>
          <a:ln cap="flat" cmpd="sng" w="19050">
            <a:solidFill>
              <a:srgbClr val="CDCDCD"/>
            </a:solidFill>
            <a:prstDash val="solid"/>
            <a:round/>
            <a:headEnd len="sm" w="sm" type="none"/>
            <a:tailEnd len="sm" w="sm" type="none"/>
          </a:ln>
        </p:spPr>
      </p:cxnSp>
      <p:grpSp>
        <p:nvGrpSpPr>
          <p:cNvPr id="86" name="Google Shape;86;p13"/>
          <p:cNvGrpSpPr/>
          <p:nvPr/>
        </p:nvGrpSpPr>
        <p:grpSpPr>
          <a:xfrm>
            <a:off x="8816228" y="6908451"/>
            <a:ext cx="655543" cy="130850"/>
            <a:chOff x="0" y="-49708"/>
            <a:chExt cx="874058" cy="174466"/>
          </a:xfrm>
        </p:grpSpPr>
        <p:grpSp>
          <p:nvGrpSpPr>
            <p:cNvPr id="87" name="Google Shape;87;p13"/>
            <p:cNvGrpSpPr/>
            <p:nvPr/>
          </p:nvGrpSpPr>
          <p:grpSpPr>
            <a:xfrm>
              <a:off x="0" y="-49708"/>
              <a:ext cx="124758" cy="174466"/>
              <a:chOff x="0" y="-323850"/>
              <a:chExt cx="812800" cy="1136650"/>
            </a:xfrm>
          </p:grpSpPr>
          <p:sp>
            <p:nvSpPr>
              <p:cNvPr id="88" name="Google Shape;88;p13"/>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373737"/>
              </a:solidFill>
              <a:ln>
                <a:noFill/>
              </a:ln>
            </p:spPr>
          </p:sp>
          <p:sp>
            <p:nvSpPr>
              <p:cNvPr id="89" name="Google Shape;89;p13"/>
              <p:cNvSpPr txBox="1"/>
              <p:nvPr/>
            </p:nvSpPr>
            <p:spPr>
              <a:xfrm>
                <a:off x="0" y="-323850"/>
                <a:ext cx="812800" cy="11366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3"/>
            <p:cNvGrpSpPr/>
            <p:nvPr/>
          </p:nvGrpSpPr>
          <p:grpSpPr>
            <a:xfrm>
              <a:off x="374650" y="-49708"/>
              <a:ext cx="124758" cy="174466"/>
              <a:chOff x="0" y="-323850"/>
              <a:chExt cx="812800" cy="1136650"/>
            </a:xfrm>
          </p:grpSpPr>
          <p:sp>
            <p:nvSpPr>
              <p:cNvPr id="91" name="Google Shape;91;p13"/>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373737"/>
              </a:solidFill>
              <a:ln>
                <a:noFill/>
              </a:ln>
            </p:spPr>
          </p:sp>
          <p:sp>
            <p:nvSpPr>
              <p:cNvPr id="92" name="Google Shape;92;p13"/>
              <p:cNvSpPr txBox="1"/>
              <p:nvPr/>
            </p:nvSpPr>
            <p:spPr>
              <a:xfrm>
                <a:off x="0" y="-323850"/>
                <a:ext cx="812800" cy="11366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 name="Google Shape;93;p13"/>
            <p:cNvGrpSpPr/>
            <p:nvPr/>
          </p:nvGrpSpPr>
          <p:grpSpPr>
            <a:xfrm>
              <a:off x="749300" y="-49708"/>
              <a:ext cx="124758" cy="174466"/>
              <a:chOff x="0" y="-323850"/>
              <a:chExt cx="812800" cy="1136650"/>
            </a:xfrm>
          </p:grpSpPr>
          <p:sp>
            <p:nvSpPr>
              <p:cNvPr id="94" name="Google Shape;94;p13"/>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373737"/>
              </a:solidFill>
              <a:ln>
                <a:noFill/>
              </a:ln>
            </p:spPr>
          </p:sp>
          <p:sp>
            <p:nvSpPr>
              <p:cNvPr id="95" name="Google Shape;95;p13"/>
              <p:cNvSpPr txBox="1"/>
              <p:nvPr/>
            </p:nvSpPr>
            <p:spPr>
              <a:xfrm>
                <a:off x="0" y="-323850"/>
                <a:ext cx="812800" cy="11366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96" name="Google Shape;96;p13"/>
          <p:cNvSpPr txBox="1"/>
          <p:nvPr/>
        </p:nvSpPr>
        <p:spPr>
          <a:xfrm>
            <a:off x="3842396" y="7242285"/>
            <a:ext cx="10603200" cy="554100"/>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lang="en-US" sz="3600">
                <a:solidFill>
                  <a:srgbClr val="373737"/>
                </a:solidFill>
              </a:rPr>
              <a:t>チーム　おなご</a:t>
            </a:r>
            <a:endParaRPr sz="3600"/>
          </a:p>
        </p:txBody>
      </p:sp>
      <p:sp>
        <p:nvSpPr>
          <p:cNvPr id="97" name="Google Shape;97;p13"/>
          <p:cNvSpPr txBox="1"/>
          <p:nvPr/>
        </p:nvSpPr>
        <p:spPr>
          <a:xfrm>
            <a:off x="7531280" y="2074048"/>
            <a:ext cx="3596100" cy="4617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lang="en-US" sz="3000">
                <a:solidFill>
                  <a:srgbClr val="373737"/>
                </a:solidFill>
                <a:latin typeface="Poppins"/>
                <a:ea typeface="Poppins"/>
                <a:cs typeface="Poppins"/>
                <a:sym typeface="Poppins"/>
              </a:rPr>
              <a:t>Hackathon　発表</a:t>
            </a:r>
            <a:endParaRPr sz="3000"/>
          </a:p>
        </p:txBody>
      </p:sp>
      <p:sp>
        <p:nvSpPr>
          <p:cNvPr id="98" name="Google Shape;98;p13"/>
          <p:cNvSpPr txBox="1"/>
          <p:nvPr/>
        </p:nvSpPr>
        <p:spPr>
          <a:xfrm>
            <a:off x="13216990" y="819150"/>
            <a:ext cx="4042200" cy="9606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0" i="0" lang="en-US" sz="2400" u="none" cap="none" strike="noStrike">
                <a:solidFill>
                  <a:srgbClr val="373737"/>
                </a:solidFill>
                <a:latin typeface="Arial"/>
                <a:ea typeface="Arial"/>
                <a:cs typeface="Arial"/>
                <a:sym typeface="Arial"/>
              </a:rPr>
              <a:t>20</a:t>
            </a:r>
            <a:r>
              <a:rPr lang="en-US" sz="2400">
                <a:solidFill>
                  <a:srgbClr val="373737"/>
                </a:solidFill>
              </a:rPr>
              <a:t>25</a:t>
            </a:r>
            <a:r>
              <a:rPr b="0" i="0" lang="en-US" sz="2400" u="none" cap="none" strike="noStrike">
                <a:solidFill>
                  <a:srgbClr val="373737"/>
                </a:solidFill>
                <a:latin typeface="Arial"/>
                <a:ea typeface="Arial"/>
                <a:cs typeface="Arial"/>
                <a:sym typeface="Arial"/>
              </a:rPr>
              <a:t>年</a:t>
            </a:r>
            <a:r>
              <a:rPr lang="en-US" sz="2400">
                <a:solidFill>
                  <a:srgbClr val="373737"/>
                </a:solidFill>
              </a:rPr>
              <a:t>8</a:t>
            </a:r>
            <a:r>
              <a:rPr b="0" i="0" lang="en-US" sz="2400" u="none" cap="none" strike="noStrike">
                <a:solidFill>
                  <a:srgbClr val="373737"/>
                </a:solidFill>
                <a:latin typeface="Arial"/>
                <a:ea typeface="Arial"/>
                <a:cs typeface="Arial"/>
                <a:sym typeface="Arial"/>
              </a:rPr>
              <a:t>月</a:t>
            </a:r>
            <a:r>
              <a:rPr lang="en-US" sz="2400">
                <a:solidFill>
                  <a:srgbClr val="373737"/>
                </a:solidFill>
              </a:rPr>
              <a:t>3</a:t>
            </a:r>
            <a:r>
              <a:rPr b="0" i="0" lang="en-US" sz="2400" u="none" cap="none" strike="noStrike">
                <a:solidFill>
                  <a:srgbClr val="373737"/>
                </a:solidFill>
                <a:latin typeface="Arial"/>
                <a:ea typeface="Arial"/>
                <a:cs typeface="Arial"/>
                <a:sym typeface="Arial"/>
              </a:rPr>
              <a:t>日</a:t>
            </a:r>
            <a:endParaRPr sz="2400"/>
          </a:p>
          <a:p>
            <a:pPr indent="0" lvl="0" marL="0" marR="0" rtl="0" algn="r">
              <a:lnSpc>
                <a:spcPct val="160000"/>
              </a:lnSpc>
              <a:spcBef>
                <a:spcPts val="0"/>
              </a:spcBef>
              <a:spcAft>
                <a:spcPts val="0"/>
              </a:spcAft>
              <a:buNone/>
            </a:pPr>
            <a:r>
              <a:rPr lang="en-US" sz="2400">
                <a:solidFill>
                  <a:srgbClr val="373737"/>
                </a:solidFill>
              </a:rPr>
              <a:t>長岡美甫　/　中本明里</a:t>
            </a:r>
            <a:endParaRPr sz="2400"/>
          </a:p>
        </p:txBody>
      </p:sp>
      <p:pic>
        <p:nvPicPr>
          <p:cNvPr id="99" name="Google Shape;99;p13"/>
          <p:cNvPicPr preferRelativeResize="0"/>
          <p:nvPr/>
        </p:nvPicPr>
        <p:blipFill>
          <a:blip r:embed="rId4">
            <a:alphaModFix/>
          </a:blip>
          <a:stretch>
            <a:fillRect/>
          </a:stretch>
        </p:blipFill>
        <p:spPr>
          <a:xfrm>
            <a:off x="7122900" y="2866933"/>
            <a:ext cx="4042200" cy="371034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p:nvPr/>
        </p:nvSpPr>
        <p:spPr>
          <a:xfrm rot="-10690902">
            <a:off x="-1745849" y="-2032481"/>
            <a:ext cx="6914367" cy="6560290"/>
          </a:xfrm>
          <a:custGeom>
            <a:rect b="b" l="l" r="r" t="t"/>
            <a:pathLst>
              <a:path extrusionOk="0" h="5907235" w="6268377">
                <a:moveTo>
                  <a:pt x="0" y="0"/>
                </a:moveTo>
                <a:lnTo>
                  <a:pt x="6268376" y="0"/>
                </a:lnTo>
                <a:lnTo>
                  <a:pt x="6268376" y="5907236"/>
                </a:lnTo>
                <a:lnTo>
                  <a:pt x="0" y="5907236"/>
                </a:lnTo>
                <a:lnTo>
                  <a:pt x="0" y="0"/>
                </a:lnTo>
                <a:close/>
              </a:path>
            </a:pathLst>
          </a:custGeom>
          <a:blipFill rotWithShape="1">
            <a:blip r:embed="rId3">
              <a:alphaModFix/>
            </a:blip>
            <a:stretch>
              <a:fillRect b="0" l="0" r="0" t="0"/>
            </a:stretch>
          </a:blipFill>
          <a:ln>
            <a:noFill/>
          </a:ln>
        </p:spPr>
      </p:sp>
      <p:cxnSp>
        <p:nvCxnSpPr>
          <p:cNvPr id="105" name="Google Shape;105;p14"/>
          <p:cNvCxnSpPr/>
          <p:nvPr/>
        </p:nvCxnSpPr>
        <p:spPr>
          <a:xfrm>
            <a:off x="6124987" y="4266550"/>
            <a:ext cx="165000" cy="0"/>
          </a:xfrm>
          <a:prstGeom prst="straightConnector1">
            <a:avLst/>
          </a:prstGeom>
          <a:noFill/>
          <a:ln cap="flat" cmpd="sng" w="19050">
            <a:solidFill>
              <a:srgbClr val="CDCDCD"/>
            </a:solidFill>
            <a:prstDash val="solid"/>
            <a:round/>
            <a:headEnd len="sm" w="sm" type="none"/>
            <a:tailEnd len="sm" w="sm" type="none"/>
          </a:ln>
        </p:spPr>
      </p:cxnSp>
      <p:sp>
        <p:nvSpPr>
          <p:cNvPr id="106" name="Google Shape;106;p14"/>
          <p:cNvSpPr txBox="1"/>
          <p:nvPr/>
        </p:nvSpPr>
        <p:spPr>
          <a:xfrm>
            <a:off x="1554125" y="704850"/>
            <a:ext cx="10603200" cy="73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4800" u="sng" cap="none" strike="noStrike">
                <a:solidFill>
                  <a:srgbClr val="373737"/>
                </a:solidFill>
                <a:latin typeface="Ultra"/>
                <a:ea typeface="Ultra"/>
                <a:cs typeface="Ultra"/>
                <a:sym typeface="Ultra"/>
              </a:rPr>
              <a:t>目次</a:t>
            </a:r>
            <a:endParaRPr sz="4800"/>
          </a:p>
        </p:txBody>
      </p:sp>
      <p:sp>
        <p:nvSpPr>
          <p:cNvPr id="107" name="Google Shape;107;p14"/>
          <p:cNvSpPr txBox="1"/>
          <p:nvPr/>
        </p:nvSpPr>
        <p:spPr>
          <a:xfrm>
            <a:off x="6536475" y="3218188"/>
            <a:ext cx="7403700" cy="923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lang="en-US" sz="6000">
                <a:solidFill>
                  <a:srgbClr val="373737"/>
                </a:solidFill>
              </a:rPr>
              <a:t>アプリ概要</a:t>
            </a:r>
            <a:endParaRPr sz="6000"/>
          </a:p>
        </p:txBody>
      </p:sp>
      <p:sp>
        <p:nvSpPr>
          <p:cNvPr id="108" name="Google Shape;108;p14"/>
          <p:cNvSpPr txBox="1"/>
          <p:nvPr/>
        </p:nvSpPr>
        <p:spPr>
          <a:xfrm>
            <a:off x="4891150" y="3218193"/>
            <a:ext cx="987300" cy="923400"/>
          </a:xfrm>
          <a:prstGeom prst="rect">
            <a:avLst/>
          </a:prstGeom>
          <a:noFill/>
          <a:ln>
            <a:noFill/>
          </a:ln>
        </p:spPr>
        <p:txBody>
          <a:bodyPr anchorCtr="0" anchor="t" bIns="0" lIns="0" spcFirstLastPara="1" rIns="0" wrap="square" tIns="0">
            <a:spAutoFit/>
          </a:bodyPr>
          <a:lstStyle/>
          <a:p>
            <a:pPr indent="0" lvl="0" marL="0" marR="0" rtl="0" algn="r">
              <a:lnSpc>
                <a:spcPct val="200000"/>
              </a:lnSpc>
              <a:spcBef>
                <a:spcPts val="0"/>
              </a:spcBef>
              <a:spcAft>
                <a:spcPts val="0"/>
              </a:spcAft>
              <a:buNone/>
            </a:pPr>
            <a:r>
              <a:rPr b="1" i="0" lang="en-US" sz="6000" u="none" cap="none" strike="noStrike">
                <a:solidFill>
                  <a:srgbClr val="CDCDCD"/>
                </a:solidFill>
                <a:latin typeface="Ultra"/>
                <a:ea typeface="Ultra"/>
                <a:cs typeface="Ultra"/>
                <a:sym typeface="Ultra"/>
              </a:rPr>
              <a:t>01</a:t>
            </a:r>
            <a:endParaRPr sz="6000"/>
          </a:p>
        </p:txBody>
      </p:sp>
      <p:sp>
        <p:nvSpPr>
          <p:cNvPr id="109" name="Google Shape;109;p14"/>
          <p:cNvSpPr txBox="1"/>
          <p:nvPr/>
        </p:nvSpPr>
        <p:spPr>
          <a:xfrm>
            <a:off x="4789600" y="5005675"/>
            <a:ext cx="1190400" cy="923400"/>
          </a:xfrm>
          <a:prstGeom prst="rect">
            <a:avLst/>
          </a:prstGeom>
          <a:noFill/>
          <a:ln>
            <a:noFill/>
          </a:ln>
        </p:spPr>
        <p:txBody>
          <a:bodyPr anchorCtr="0" anchor="t" bIns="0" lIns="0" spcFirstLastPara="1" rIns="0" wrap="square" tIns="0">
            <a:spAutoFit/>
          </a:bodyPr>
          <a:lstStyle/>
          <a:p>
            <a:pPr indent="0" lvl="0" marL="0" marR="0" rtl="0" algn="r">
              <a:lnSpc>
                <a:spcPct val="200000"/>
              </a:lnSpc>
              <a:spcBef>
                <a:spcPts val="0"/>
              </a:spcBef>
              <a:spcAft>
                <a:spcPts val="0"/>
              </a:spcAft>
              <a:buNone/>
            </a:pPr>
            <a:r>
              <a:rPr b="1" i="0" lang="en-US" sz="6000" u="none" cap="none" strike="noStrike">
                <a:solidFill>
                  <a:srgbClr val="CDCDCD"/>
                </a:solidFill>
                <a:latin typeface="Ultra"/>
                <a:ea typeface="Ultra"/>
                <a:cs typeface="Ultra"/>
                <a:sym typeface="Ultra"/>
              </a:rPr>
              <a:t>0</a:t>
            </a:r>
            <a:r>
              <a:rPr b="1" lang="en-US" sz="6000">
                <a:solidFill>
                  <a:srgbClr val="CDCDCD"/>
                </a:solidFill>
                <a:latin typeface="Ultra"/>
                <a:ea typeface="Ultra"/>
                <a:cs typeface="Ultra"/>
                <a:sym typeface="Ultra"/>
              </a:rPr>
              <a:t>2</a:t>
            </a:r>
            <a:endParaRPr sz="6000"/>
          </a:p>
        </p:txBody>
      </p:sp>
      <p:cxnSp>
        <p:nvCxnSpPr>
          <p:cNvPr id="110" name="Google Shape;110;p14"/>
          <p:cNvCxnSpPr/>
          <p:nvPr/>
        </p:nvCxnSpPr>
        <p:spPr>
          <a:xfrm>
            <a:off x="6124987" y="5762475"/>
            <a:ext cx="165000" cy="0"/>
          </a:xfrm>
          <a:prstGeom prst="straightConnector1">
            <a:avLst/>
          </a:prstGeom>
          <a:noFill/>
          <a:ln cap="flat" cmpd="sng" w="19050">
            <a:solidFill>
              <a:srgbClr val="CDCDCD"/>
            </a:solidFill>
            <a:prstDash val="solid"/>
            <a:round/>
            <a:headEnd len="sm" w="sm" type="none"/>
            <a:tailEnd len="sm" w="sm" type="none"/>
          </a:ln>
        </p:spPr>
      </p:cxnSp>
      <p:sp>
        <p:nvSpPr>
          <p:cNvPr id="111" name="Google Shape;111;p14"/>
          <p:cNvSpPr txBox="1"/>
          <p:nvPr/>
        </p:nvSpPr>
        <p:spPr>
          <a:xfrm>
            <a:off x="6536475" y="6793138"/>
            <a:ext cx="7403700" cy="923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lang="en-US" sz="6000">
                <a:solidFill>
                  <a:srgbClr val="373737"/>
                </a:solidFill>
              </a:rPr>
              <a:t>ポイント</a:t>
            </a:r>
            <a:endParaRPr sz="6000"/>
          </a:p>
        </p:txBody>
      </p:sp>
      <p:sp>
        <p:nvSpPr>
          <p:cNvPr id="112" name="Google Shape;112;p14"/>
          <p:cNvSpPr txBox="1"/>
          <p:nvPr/>
        </p:nvSpPr>
        <p:spPr>
          <a:xfrm>
            <a:off x="4789600" y="6793150"/>
            <a:ext cx="1190400" cy="923400"/>
          </a:xfrm>
          <a:prstGeom prst="rect">
            <a:avLst/>
          </a:prstGeom>
          <a:noFill/>
          <a:ln>
            <a:noFill/>
          </a:ln>
        </p:spPr>
        <p:txBody>
          <a:bodyPr anchorCtr="0" anchor="t" bIns="0" lIns="0" spcFirstLastPara="1" rIns="0" wrap="square" tIns="0">
            <a:spAutoFit/>
          </a:bodyPr>
          <a:lstStyle/>
          <a:p>
            <a:pPr indent="0" lvl="0" marL="0" marR="0" rtl="0" algn="r">
              <a:lnSpc>
                <a:spcPct val="200000"/>
              </a:lnSpc>
              <a:spcBef>
                <a:spcPts val="0"/>
              </a:spcBef>
              <a:spcAft>
                <a:spcPts val="0"/>
              </a:spcAft>
              <a:buNone/>
            </a:pPr>
            <a:r>
              <a:rPr b="1" i="0" lang="en-US" sz="6000" u="none" cap="none" strike="noStrike">
                <a:solidFill>
                  <a:srgbClr val="CDCDCD"/>
                </a:solidFill>
                <a:latin typeface="Ultra"/>
                <a:ea typeface="Ultra"/>
                <a:cs typeface="Ultra"/>
                <a:sym typeface="Ultra"/>
              </a:rPr>
              <a:t>0</a:t>
            </a:r>
            <a:r>
              <a:rPr b="1" lang="en-US" sz="6000">
                <a:solidFill>
                  <a:srgbClr val="CDCDCD"/>
                </a:solidFill>
                <a:latin typeface="Ultra"/>
                <a:ea typeface="Ultra"/>
                <a:cs typeface="Ultra"/>
                <a:sym typeface="Ultra"/>
              </a:rPr>
              <a:t>3</a:t>
            </a:r>
            <a:endParaRPr sz="6000"/>
          </a:p>
        </p:txBody>
      </p:sp>
      <p:cxnSp>
        <p:nvCxnSpPr>
          <p:cNvPr id="113" name="Google Shape;113;p14"/>
          <p:cNvCxnSpPr/>
          <p:nvPr/>
        </p:nvCxnSpPr>
        <p:spPr>
          <a:xfrm>
            <a:off x="6124987" y="7496550"/>
            <a:ext cx="165000" cy="0"/>
          </a:xfrm>
          <a:prstGeom prst="straightConnector1">
            <a:avLst/>
          </a:prstGeom>
          <a:noFill/>
          <a:ln cap="flat" cmpd="sng" w="19050">
            <a:solidFill>
              <a:srgbClr val="CDCDCD"/>
            </a:solidFill>
            <a:prstDash val="solid"/>
            <a:round/>
            <a:headEnd len="sm" w="sm" type="none"/>
            <a:tailEnd len="sm" w="sm" type="none"/>
          </a:ln>
        </p:spPr>
      </p:cxnSp>
      <p:sp>
        <p:nvSpPr>
          <p:cNvPr id="114" name="Google Shape;114;p14"/>
          <p:cNvSpPr txBox="1"/>
          <p:nvPr/>
        </p:nvSpPr>
        <p:spPr>
          <a:xfrm>
            <a:off x="6536475" y="5005675"/>
            <a:ext cx="4205700" cy="923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lang="en-US" sz="6000">
                <a:solidFill>
                  <a:srgbClr val="373737"/>
                </a:solidFill>
              </a:rPr>
              <a:t>動作説明</a:t>
            </a:r>
            <a:endParaRPr sz="6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nvSpPr>
        <p:spPr>
          <a:xfrm>
            <a:off x="609125" y="2049378"/>
            <a:ext cx="6933600" cy="1108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7200">
                <a:solidFill>
                  <a:srgbClr val="373737"/>
                </a:solidFill>
              </a:rPr>
              <a:t>●</a:t>
            </a:r>
            <a:r>
              <a:rPr b="1" lang="en-US" sz="4200">
                <a:solidFill>
                  <a:srgbClr val="373737"/>
                </a:solidFill>
              </a:rPr>
              <a:t>どんなアプリ？</a:t>
            </a:r>
            <a:endParaRPr/>
          </a:p>
        </p:txBody>
      </p:sp>
      <p:sp>
        <p:nvSpPr>
          <p:cNvPr id="120" name="Google Shape;120;p15"/>
          <p:cNvSpPr txBox="1"/>
          <p:nvPr/>
        </p:nvSpPr>
        <p:spPr>
          <a:xfrm>
            <a:off x="718275" y="3497913"/>
            <a:ext cx="6327600" cy="1939500"/>
          </a:xfrm>
          <a:prstGeom prst="rect">
            <a:avLst/>
          </a:prstGeom>
          <a:noFill/>
          <a:ln>
            <a:noFill/>
          </a:ln>
        </p:spPr>
        <p:txBody>
          <a:bodyPr anchorCtr="0" anchor="t" bIns="0" lIns="0" spcFirstLastPara="1" rIns="0" wrap="square" tIns="0">
            <a:spAutoFit/>
          </a:bodyPr>
          <a:lstStyle/>
          <a:p>
            <a:pPr indent="0" lvl="0" marL="0" rtl="0" algn="l">
              <a:lnSpc>
                <a:spcPct val="200000"/>
              </a:lnSpc>
              <a:spcBef>
                <a:spcPts val="0"/>
              </a:spcBef>
              <a:spcAft>
                <a:spcPts val="0"/>
              </a:spcAft>
              <a:buSzPts val="1100"/>
              <a:buNone/>
            </a:pPr>
            <a:r>
              <a:rPr b="1" lang="en-US" sz="1800">
                <a:solidFill>
                  <a:schemeClr val="dk1"/>
                </a:solidFill>
              </a:rPr>
              <a:t>「ともたび」は、旅行メンバーでグループを作成し、支払いの登録・自動精算により負担額を見える化できるWebアプリです。さらに、自分の参加予定をカレンダーで一括管理できます。</a:t>
            </a:r>
            <a:endParaRPr b="1" sz="1800">
              <a:solidFill>
                <a:schemeClr val="dk1"/>
              </a:solidFill>
            </a:endParaRPr>
          </a:p>
        </p:txBody>
      </p:sp>
      <p:sp>
        <p:nvSpPr>
          <p:cNvPr id="121" name="Google Shape;121;p15"/>
          <p:cNvSpPr txBox="1"/>
          <p:nvPr/>
        </p:nvSpPr>
        <p:spPr>
          <a:xfrm>
            <a:off x="-834950" y="397150"/>
            <a:ext cx="3000000" cy="1108200"/>
          </a:xfrm>
          <a:prstGeom prst="rect">
            <a:avLst/>
          </a:prstGeom>
          <a:noFill/>
          <a:ln>
            <a:noFill/>
          </a:ln>
        </p:spPr>
        <p:txBody>
          <a:bodyPr anchorCtr="0" anchor="t" bIns="91425" lIns="91425" spcFirstLastPara="1" rIns="91425" wrap="square" tIns="91425">
            <a:spAutoFit/>
          </a:bodyPr>
          <a:lstStyle/>
          <a:p>
            <a:pPr indent="0" lvl="0" marL="0" rtl="0" algn="r">
              <a:lnSpc>
                <a:spcPct val="200000"/>
              </a:lnSpc>
              <a:spcBef>
                <a:spcPts val="0"/>
              </a:spcBef>
              <a:spcAft>
                <a:spcPts val="0"/>
              </a:spcAft>
              <a:buNone/>
            </a:pPr>
            <a:r>
              <a:rPr b="1" lang="en-US" sz="6000">
                <a:solidFill>
                  <a:srgbClr val="CDCDCD"/>
                </a:solidFill>
                <a:latin typeface="Ultra"/>
                <a:ea typeface="Ultra"/>
                <a:cs typeface="Ultra"/>
                <a:sym typeface="Ultra"/>
              </a:rPr>
              <a:t>01</a:t>
            </a:r>
            <a:endParaRPr/>
          </a:p>
        </p:txBody>
      </p:sp>
      <p:sp>
        <p:nvSpPr>
          <p:cNvPr id="122" name="Google Shape;122;p15"/>
          <p:cNvSpPr txBox="1"/>
          <p:nvPr/>
        </p:nvSpPr>
        <p:spPr>
          <a:xfrm>
            <a:off x="2659238" y="489538"/>
            <a:ext cx="7403700" cy="923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lang="en-US" sz="6000">
                <a:solidFill>
                  <a:srgbClr val="373737"/>
                </a:solidFill>
              </a:rPr>
              <a:t>アプリ概要</a:t>
            </a:r>
            <a:endParaRPr sz="6000"/>
          </a:p>
        </p:txBody>
      </p:sp>
      <p:sp>
        <p:nvSpPr>
          <p:cNvPr id="123" name="Google Shape;123;p15"/>
          <p:cNvSpPr txBox="1"/>
          <p:nvPr/>
        </p:nvSpPr>
        <p:spPr>
          <a:xfrm>
            <a:off x="10980200" y="1065025"/>
            <a:ext cx="3393300" cy="1108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7200">
                <a:solidFill>
                  <a:srgbClr val="373737"/>
                </a:solidFill>
              </a:rPr>
              <a:t>●</a:t>
            </a:r>
            <a:r>
              <a:rPr b="1" lang="en-US" sz="4200">
                <a:solidFill>
                  <a:srgbClr val="373737"/>
                </a:solidFill>
              </a:rPr>
              <a:t>主な機能</a:t>
            </a:r>
            <a:endParaRPr/>
          </a:p>
        </p:txBody>
      </p:sp>
      <p:sp>
        <p:nvSpPr>
          <p:cNvPr id="124" name="Google Shape;124;p15"/>
          <p:cNvSpPr txBox="1"/>
          <p:nvPr/>
        </p:nvSpPr>
        <p:spPr>
          <a:xfrm>
            <a:off x="499988" y="5685361"/>
            <a:ext cx="6933600" cy="1108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7200">
                <a:solidFill>
                  <a:srgbClr val="373737"/>
                </a:solidFill>
              </a:rPr>
              <a:t>●</a:t>
            </a:r>
            <a:r>
              <a:rPr b="1" lang="en-US" sz="4200">
                <a:solidFill>
                  <a:srgbClr val="373737"/>
                </a:solidFill>
              </a:rPr>
              <a:t>使用した開発環境</a:t>
            </a:r>
            <a:endParaRPr/>
          </a:p>
        </p:txBody>
      </p:sp>
      <p:sp>
        <p:nvSpPr>
          <p:cNvPr id="125" name="Google Shape;125;p15"/>
          <p:cNvSpPr txBox="1"/>
          <p:nvPr/>
        </p:nvSpPr>
        <p:spPr>
          <a:xfrm>
            <a:off x="819113" y="7133875"/>
            <a:ext cx="6933600" cy="1939500"/>
          </a:xfrm>
          <a:prstGeom prst="rect">
            <a:avLst/>
          </a:prstGeom>
          <a:noFill/>
          <a:ln>
            <a:noFill/>
          </a:ln>
        </p:spPr>
        <p:txBody>
          <a:bodyPr anchorCtr="0" anchor="t" bIns="0" lIns="0" spcFirstLastPara="1" rIns="0" wrap="square" tIns="0">
            <a:spAutoFit/>
          </a:bodyPr>
          <a:lstStyle/>
          <a:p>
            <a:pPr indent="0" lvl="0" marL="0" rtl="0" algn="l">
              <a:lnSpc>
                <a:spcPct val="200000"/>
              </a:lnSpc>
              <a:spcBef>
                <a:spcPts val="0"/>
              </a:spcBef>
              <a:spcAft>
                <a:spcPts val="0"/>
              </a:spcAft>
              <a:buClr>
                <a:schemeClr val="dk1"/>
              </a:buClr>
              <a:buSzPts val="1100"/>
              <a:buFont typeface="Arial"/>
              <a:buNone/>
            </a:pPr>
            <a:r>
              <a:rPr b="1" lang="en-US" sz="1800">
                <a:solidFill>
                  <a:schemeClr val="dk1"/>
                </a:solidFill>
              </a:rPr>
              <a:t>フロントエンド</a:t>
            </a:r>
            <a:r>
              <a:rPr lang="en-US" sz="1800">
                <a:solidFill>
                  <a:schemeClr val="dk1"/>
                </a:solidFill>
              </a:rPr>
              <a:t>：React（JavaScript）</a:t>
            </a:r>
            <a:endParaRPr sz="18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800">
                <a:solidFill>
                  <a:schemeClr val="dk1"/>
                </a:solidFill>
              </a:rPr>
              <a:t>バックエンド / DB</a:t>
            </a:r>
            <a:r>
              <a:rPr lang="en-US" sz="1800">
                <a:solidFill>
                  <a:schemeClr val="dk1"/>
                </a:solidFill>
              </a:rPr>
              <a:t>：Firebase</a:t>
            </a:r>
            <a:endParaRPr sz="18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800">
                <a:solidFill>
                  <a:schemeClr val="dk1"/>
                </a:solidFill>
              </a:rPr>
              <a:t>UI</a:t>
            </a:r>
            <a:r>
              <a:rPr lang="en-US" sz="1800">
                <a:solidFill>
                  <a:schemeClr val="dk1"/>
                </a:solidFill>
              </a:rPr>
              <a:t>：CSS   / HTML</a:t>
            </a:r>
            <a:endParaRPr sz="1800">
              <a:solidFill>
                <a:schemeClr val="dk1"/>
              </a:solidFill>
            </a:endParaRPr>
          </a:p>
          <a:p>
            <a:pPr indent="0" lvl="0" marL="0" rtl="0" algn="l">
              <a:lnSpc>
                <a:spcPct val="200000"/>
              </a:lnSpc>
              <a:spcBef>
                <a:spcPts val="0"/>
              </a:spcBef>
              <a:spcAft>
                <a:spcPts val="0"/>
              </a:spcAft>
              <a:buSzPts val="1100"/>
              <a:buNone/>
            </a:pPr>
            <a:r>
              <a:t/>
            </a:r>
            <a:endParaRPr sz="1800">
              <a:solidFill>
                <a:srgbClr val="373737"/>
              </a:solidFill>
            </a:endParaRPr>
          </a:p>
        </p:txBody>
      </p:sp>
      <p:pic>
        <p:nvPicPr>
          <p:cNvPr id="126" name="Google Shape;126;p15"/>
          <p:cNvPicPr preferRelativeResize="0"/>
          <p:nvPr/>
        </p:nvPicPr>
        <p:blipFill>
          <a:blip r:embed="rId3">
            <a:alphaModFix/>
          </a:blip>
          <a:stretch>
            <a:fillRect/>
          </a:stretch>
        </p:blipFill>
        <p:spPr>
          <a:xfrm>
            <a:off x="8460050" y="2782775"/>
            <a:ext cx="9363624" cy="6039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cxnSp>
        <p:nvCxnSpPr>
          <p:cNvPr id="131" name="Google Shape;131;p16"/>
          <p:cNvCxnSpPr/>
          <p:nvPr/>
        </p:nvCxnSpPr>
        <p:spPr>
          <a:xfrm>
            <a:off x="6124987" y="4266550"/>
            <a:ext cx="165000" cy="0"/>
          </a:xfrm>
          <a:prstGeom prst="straightConnector1">
            <a:avLst/>
          </a:prstGeom>
          <a:noFill/>
          <a:ln cap="flat" cmpd="sng" w="19050">
            <a:solidFill>
              <a:srgbClr val="CDCDCD"/>
            </a:solidFill>
            <a:prstDash val="solid"/>
            <a:round/>
            <a:headEnd len="sm" w="sm" type="none"/>
            <a:tailEnd len="sm" w="sm" type="none"/>
          </a:ln>
        </p:spPr>
      </p:cxnSp>
      <p:cxnSp>
        <p:nvCxnSpPr>
          <p:cNvPr id="132" name="Google Shape;132;p16"/>
          <p:cNvCxnSpPr/>
          <p:nvPr/>
        </p:nvCxnSpPr>
        <p:spPr>
          <a:xfrm>
            <a:off x="1939587" y="1056000"/>
            <a:ext cx="165000" cy="0"/>
          </a:xfrm>
          <a:prstGeom prst="straightConnector1">
            <a:avLst/>
          </a:prstGeom>
          <a:noFill/>
          <a:ln cap="flat" cmpd="sng" w="19050">
            <a:solidFill>
              <a:srgbClr val="CDCDCD"/>
            </a:solidFill>
            <a:prstDash val="solid"/>
            <a:round/>
            <a:headEnd len="sm" w="sm" type="none"/>
            <a:tailEnd len="sm" w="sm" type="none"/>
          </a:ln>
        </p:spPr>
      </p:cxnSp>
      <p:pic>
        <p:nvPicPr>
          <p:cNvPr id="133" name="Google Shape;133;p16" title="ともたび.mp4">
            <a:hlinkClick r:id="rId3"/>
          </p:cNvPr>
          <p:cNvPicPr preferRelativeResize="0"/>
          <p:nvPr/>
        </p:nvPicPr>
        <p:blipFill>
          <a:blip r:embed="rId4">
            <a:alphaModFix/>
          </a:blip>
          <a:stretch>
            <a:fillRect/>
          </a:stretch>
        </p:blipFill>
        <p:spPr>
          <a:xfrm>
            <a:off x="3485800" y="194287"/>
            <a:ext cx="13263526" cy="9898439"/>
          </a:xfrm>
          <a:prstGeom prst="rect">
            <a:avLst/>
          </a:prstGeom>
          <a:noFill/>
          <a:ln>
            <a:noFill/>
          </a:ln>
        </p:spPr>
      </p:pic>
      <p:sp>
        <p:nvSpPr>
          <p:cNvPr id="134" name="Google Shape;134;p16"/>
          <p:cNvSpPr txBox="1"/>
          <p:nvPr/>
        </p:nvSpPr>
        <p:spPr>
          <a:xfrm>
            <a:off x="172400" y="594300"/>
            <a:ext cx="1190400" cy="923400"/>
          </a:xfrm>
          <a:prstGeom prst="rect">
            <a:avLst/>
          </a:prstGeom>
          <a:noFill/>
          <a:ln>
            <a:noFill/>
          </a:ln>
        </p:spPr>
        <p:txBody>
          <a:bodyPr anchorCtr="0" anchor="t" bIns="0" lIns="0" spcFirstLastPara="1" rIns="0" wrap="square" tIns="0">
            <a:spAutoFit/>
          </a:bodyPr>
          <a:lstStyle/>
          <a:p>
            <a:pPr indent="0" lvl="0" marL="0" marR="0" rtl="0" algn="r">
              <a:lnSpc>
                <a:spcPct val="200000"/>
              </a:lnSpc>
              <a:spcBef>
                <a:spcPts val="0"/>
              </a:spcBef>
              <a:spcAft>
                <a:spcPts val="0"/>
              </a:spcAft>
              <a:buNone/>
            </a:pPr>
            <a:r>
              <a:rPr b="1" i="0" lang="en-US" sz="6000" u="none" cap="none" strike="noStrike">
                <a:solidFill>
                  <a:srgbClr val="CDCDCD"/>
                </a:solidFill>
                <a:latin typeface="Ultra"/>
                <a:ea typeface="Ultra"/>
                <a:cs typeface="Ultra"/>
                <a:sym typeface="Ultra"/>
              </a:rPr>
              <a:t>0</a:t>
            </a:r>
            <a:r>
              <a:rPr b="1" lang="en-US" sz="6000">
                <a:solidFill>
                  <a:srgbClr val="CDCDCD"/>
                </a:solidFill>
                <a:latin typeface="Ultra"/>
                <a:ea typeface="Ultra"/>
                <a:cs typeface="Ultra"/>
                <a:sym typeface="Ultra"/>
              </a:rPr>
              <a:t>2</a:t>
            </a:r>
            <a:endParaRPr sz="6000"/>
          </a:p>
        </p:txBody>
      </p:sp>
      <p:cxnSp>
        <p:nvCxnSpPr>
          <p:cNvPr id="135" name="Google Shape;135;p16"/>
          <p:cNvCxnSpPr/>
          <p:nvPr/>
        </p:nvCxnSpPr>
        <p:spPr>
          <a:xfrm>
            <a:off x="1507787" y="1351100"/>
            <a:ext cx="165000" cy="0"/>
          </a:xfrm>
          <a:prstGeom prst="straightConnector1">
            <a:avLst/>
          </a:prstGeom>
          <a:noFill/>
          <a:ln cap="flat" cmpd="sng" w="19050">
            <a:solidFill>
              <a:srgbClr val="CDCDCD"/>
            </a:solidFill>
            <a:prstDash val="solid"/>
            <a:round/>
            <a:headEnd len="sm" w="sm" type="none"/>
            <a:tailEnd len="sm" w="sm" type="none"/>
          </a:ln>
        </p:spPr>
      </p:cxnSp>
      <p:sp>
        <p:nvSpPr>
          <p:cNvPr id="136" name="Google Shape;136;p16"/>
          <p:cNvSpPr txBox="1"/>
          <p:nvPr/>
        </p:nvSpPr>
        <p:spPr>
          <a:xfrm>
            <a:off x="172400" y="1665850"/>
            <a:ext cx="3419700" cy="923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lang="en-US" sz="6000">
                <a:solidFill>
                  <a:srgbClr val="373737"/>
                </a:solidFill>
              </a:rPr>
              <a:t>動作説明</a:t>
            </a:r>
            <a:endParaRPr sz="6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pSp>
        <p:nvGrpSpPr>
          <p:cNvPr id="141" name="Google Shape;141;p17"/>
          <p:cNvGrpSpPr/>
          <p:nvPr/>
        </p:nvGrpSpPr>
        <p:grpSpPr>
          <a:xfrm>
            <a:off x="1718435" y="1198937"/>
            <a:ext cx="4191000" cy="5555328"/>
            <a:chOff x="0" y="-251439"/>
            <a:chExt cx="772381" cy="1023820"/>
          </a:xfrm>
        </p:grpSpPr>
        <p:sp>
          <p:nvSpPr>
            <p:cNvPr id="142" name="Google Shape;142;p17"/>
            <p:cNvSpPr/>
            <p:nvPr/>
          </p:nvSpPr>
          <p:spPr>
            <a:xfrm>
              <a:off x="0" y="0"/>
              <a:ext cx="772381" cy="772381"/>
            </a:xfrm>
            <a:custGeom>
              <a:rect b="b" l="l" r="r" t="t"/>
              <a:pathLst>
                <a:path extrusionOk="0" h="772381" w="772381">
                  <a:moveTo>
                    <a:pt x="386191" y="0"/>
                  </a:moveTo>
                  <a:cubicBezTo>
                    <a:pt x="172903" y="0"/>
                    <a:pt x="0" y="172903"/>
                    <a:pt x="0" y="386191"/>
                  </a:cubicBezTo>
                  <a:cubicBezTo>
                    <a:pt x="0" y="599478"/>
                    <a:pt x="172903" y="772381"/>
                    <a:pt x="386191" y="772381"/>
                  </a:cubicBezTo>
                  <a:cubicBezTo>
                    <a:pt x="599478" y="772381"/>
                    <a:pt x="772381" y="599478"/>
                    <a:pt x="772381" y="386191"/>
                  </a:cubicBezTo>
                  <a:cubicBezTo>
                    <a:pt x="772381" y="172903"/>
                    <a:pt x="599478" y="0"/>
                    <a:pt x="386191" y="0"/>
                  </a:cubicBezTo>
                  <a:close/>
                </a:path>
              </a:pathLst>
            </a:custGeom>
            <a:solidFill>
              <a:srgbClr val="000000">
                <a:alpha val="0"/>
              </a:srgbClr>
            </a:solidFill>
            <a:ln cap="sq" cmpd="sng" w="9525">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txBox="1"/>
            <p:nvPr/>
          </p:nvSpPr>
          <p:spPr>
            <a:xfrm>
              <a:off x="72411" y="-251439"/>
              <a:ext cx="627560" cy="95141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4" name="Google Shape;144;p17"/>
          <p:cNvGrpSpPr/>
          <p:nvPr/>
        </p:nvGrpSpPr>
        <p:grpSpPr>
          <a:xfrm>
            <a:off x="7049084" y="1198932"/>
            <a:ext cx="4191017" cy="5555350"/>
            <a:chOff x="0" y="-251439"/>
            <a:chExt cx="772381" cy="1023820"/>
          </a:xfrm>
        </p:grpSpPr>
        <p:sp>
          <p:nvSpPr>
            <p:cNvPr id="145" name="Google Shape;145;p17"/>
            <p:cNvSpPr/>
            <p:nvPr/>
          </p:nvSpPr>
          <p:spPr>
            <a:xfrm>
              <a:off x="0" y="0"/>
              <a:ext cx="772381" cy="772381"/>
            </a:xfrm>
            <a:custGeom>
              <a:rect b="b" l="l" r="r" t="t"/>
              <a:pathLst>
                <a:path extrusionOk="0" h="772381" w="772381">
                  <a:moveTo>
                    <a:pt x="386191" y="0"/>
                  </a:moveTo>
                  <a:cubicBezTo>
                    <a:pt x="172903" y="0"/>
                    <a:pt x="0" y="172903"/>
                    <a:pt x="0" y="386191"/>
                  </a:cubicBezTo>
                  <a:cubicBezTo>
                    <a:pt x="0" y="599478"/>
                    <a:pt x="172903" y="772381"/>
                    <a:pt x="386191" y="772381"/>
                  </a:cubicBezTo>
                  <a:cubicBezTo>
                    <a:pt x="599478" y="772381"/>
                    <a:pt x="772381" y="599478"/>
                    <a:pt x="772381" y="386191"/>
                  </a:cubicBezTo>
                  <a:cubicBezTo>
                    <a:pt x="772381" y="172903"/>
                    <a:pt x="599478" y="0"/>
                    <a:pt x="386191" y="0"/>
                  </a:cubicBezTo>
                  <a:close/>
                </a:path>
              </a:pathLst>
            </a:custGeom>
            <a:solidFill>
              <a:srgbClr val="000000">
                <a:alpha val="0"/>
              </a:srgbClr>
            </a:solidFill>
            <a:ln cap="sq" cmpd="sng" w="9525">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
            <p:cNvSpPr txBox="1"/>
            <p:nvPr/>
          </p:nvSpPr>
          <p:spPr>
            <a:xfrm>
              <a:off x="72411" y="-251439"/>
              <a:ext cx="627560" cy="95141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7" name="Google Shape;147;p17"/>
          <p:cNvGrpSpPr/>
          <p:nvPr/>
        </p:nvGrpSpPr>
        <p:grpSpPr>
          <a:xfrm>
            <a:off x="12378330" y="1198937"/>
            <a:ext cx="4191000" cy="5555328"/>
            <a:chOff x="0" y="-251439"/>
            <a:chExt cx="772381" cy="1023820"/>
          </a:xfrm>
        </p:grpSpPr>
        <p:sp>
          <p:nvSpPr>
            <p:cNvPr id="148" name="Google Shape;148;p17"/>
            <p:cNvSpPr/>
            <p:nvPr/>
          </p:nvSpPr>
          <p:spPr>
            <a:xfrm>
              <a:off x="0" y="0"/>
              <a:ext cx="772381" cy="772381"/>
            </a:xfrm>
            <a:custGeom>
              <a:rect b="b" l="l" r="r" t="t"/>
              <a:pathLst>
                <a:path extrusionOk="0" h="772381" w="772381">
                  <a:moveTo>
                    <a:pt x="386191" y="0"/>
                  </a:moveTo>
                  <a:cubicBezTo>
                    <a:pt x="172903" y="0"/>
                    <a:pt x="0" y="172903"/>
                    <a:pt x="0" y="386191"/>
                  </a:cubicBezTo>
                  <a:cubicBezTo>
                    <a:pt x="0" y="599478"/>
                    <a:pt x="172903" y="772381"/>
                    <a:pt x="386191" y="772381"/>
                  </a:cubicBezTo>
                  <a:cubicBezTo>
                    <a:pt x="599478" y="772381"/>
                    <a:pt x="772381" y="599478"/>
                    <a:pt x="772381" y="386191"/>
                  </a:cubicBezTo>
                  <a:cubicBezTo>
                    <a:pt x="772381" y="172903"/>
                    <a:pt x="599478" y="0"/>
                    <a:pt x="386191" y="0"/>
                  </a:cubicBezTo>
                  <a:close/>
                </a:path>
              </a:pathLst>
            </a:custGeom>
            <a:solidFill>
              <a:srgbClr val="000000">
                <a:alpha val="0"/>
              </a:srgbClr>
            </a:solidFill>
            <a:ln cap="sq" cmpd="sng" w="9525">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7"/>
            <p:cNvSpPr txBox="1"/>
            <p:nvPr/>
          </p:nvSpPr>
          <p:spPr>
            <a:xfrm>
              <a:off x="72411" y="-251439"/>
              <a:ext cx="627560" cy="95141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17"/>
          <p:cNvGrpSpPr/>
          <p:nvPr/>
        </p:nvGrpSpPr>
        <p:grpSpPr>
          <a:xfrm>
            <a:off x="1865048" y="1526498"/>
            <a:ext cx="3897776" cy="5085380"/>
            <a:chOff x="0" y="-247650"/>
            <a:chExt cx="812800" cy="1060450"/>
          </a:xfrm>
        </p:grpSpPr>
        <p:sp>
          <p:nvSpPr>
            <p:cNvPr id="151" name="Google Shape;151;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19050">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txBox="1"/>
            <p:nvPr/>
          </p:nvSpPr>
          <p:spPr>
            <a:xfrm>
              <a:off x="76200" y="-247650"/>
              <a:ext cx="660400" cy="9842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3" name="Google Shape;153;p17"/>
          <p:cNvGrpSpPr/>
          <p:nvPr/>
        </p:nvGrpSpPr>
        <p:grpSpPr>
          <a:xfrm>
            <a:off x="7195696" y="1526498"/>
            <a:ext cx="3897776" cy="5085380"/>
            <a:chOff x="0" y="-247650"/>
            <a:chExt cx="812800" cy="1060450"/>
          </a:xfrm>
        </p:grpSpPr>
        <p:sp>
          <p:nvSpPr>
            <p:cNvPr id="154" name="Google Shape;15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19050">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txBox="1"/>
            <p:nvPr/>
          </p:nvSpPr>
          <p:spPr>
            <a:xfrm>
              <a:off x="76200" y="-247650"/>
              <a:ext cx="660400" cy="9842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6" name="Google Shape;156;p17"/>
          <p:cNvGrpSpPr/>
          <p:nvPr/>
        </p:nvGrpSpPr>
        <p:grpSpPr>
          <a:xfrm>
            <a:off x="12524942" y="1526498"/>
            <a:ext cx="3897776" cy="5085380"/>
            <a:chOff x="0" y="-247650"/>
            <a:chExt cx="812800" cy="1060450"/>
          </a:xfrm>
        </p:grpSpPr>
        <p:sp>
          <p:nvSpPr>
            <p:cNvPr id="157" name="Google Shape;157;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19050">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7"/>
            <p:cNvSpPr txBox="1"/>
            <p:nvPr/>
          </p:nvSpPr>
          <p:spPr>
            <a:xfrm>
              <a:off x="76200" y="-247650"/>
              <a:ext cx="660400" cy="9842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9" name="Google Shape;159;p17"/>
          <p:cNvGrpSpPr/>
          <p:nvPr/>
        </p:nvGrpSpPr>
        <p:grpSpPr>
          <a:xfrm>
            <a:off x="2013223" y="1760740"/>
            <a:ext cx="3601436" cy="4698748"/>
            <a:chOff x="0" y="-247650"/>
            <a:chExt cx="812800" cy="1060450"/>
          </a:xfrm>
        </p:grpSpPr>
        <p:sp>
          <p:nvSpPr>
            <p:cNvPr id="160" name="Google Shape;160;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28575">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txBox="1"/>
            <p:nvPr/>
          </p:nvSpPr>
          <p:spPr>
            <a:xfrm>
              <a:off x="76200" y="-247650"/>
              <a:ext cx="660400" cy="9842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2" name="Google Shape;162;p17"/>
          <p:cNvGrpSpPr/>
          <p:nvPr/>
        </p:nvGrpSpPr>
        <p:grpSpPr>
          <a:xfrm>
            <a:off x="7343871" y="1760743"/>
            <a:ext cx="3601426" cy="4698735"/>
            <a:chOff x="0" y="-247650"/>
            <a:chExt cx="812800" cy="1060450"/>
          </a:xfrm>
        </p:grpSpPr>
        <p:sp>
          <p:nvSpPr>
            <p:cNvPr id="163" name="Google Shape;16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28575">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7"/>
            <p:cNvSpPr txBox="1"/>
            <p:nvPr/>
          </p:nvSpPr>
          <p:spPr>
            <a:xfrm>
              <a:off x="76200" y="-247650"/>
              <a:ext cx="660400" cy="9842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5" name="Google Shape;165;p17"/>
          <p:cNvGrpSpPr/>
          <p:nvPr/>
        </p:nvGrpSpPr>
        <p:grpSpPr>
          <a:xfrm>
            <a:off x="12673117" y="1760743"/>
            <a:ext cx="3601426" cy="4698735"/>
            <a:chOff x="0" y="-247650"/>
            <a:chExt cx="812800" cy="1060450"/>
          </a:xfrm>
        </p:grpSpPr>
        <p:sp>
          <p:nvSpPr>
            <p:cNvPr id="166" name="Google Shape;166;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28575">
              <a:solidFill>
                <a:srgbClr val="CDCDCD"/>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7"/>
            <p:cNvSpPr txBox="1"/>
            <p:nvPr/>
          </p:nvSpPr>
          <p:spPr>
            <a:xfrm>
              <a:off x="76200" y="-247650"/>
              <a:ext cx="660400" cy="984250"/>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17"/>
          <p:cNvGrpSpPr/>
          <p:nvPr/>
        </p:nvGrpSpPr>
        <p:grpSpPr>
          <a:xfrm>
            <a:off x="3520553" y="6207426"/>
            <a:ext cx="586765" cy="546839"/>
            <a:chOff x="0" y="-290493"/>
            <a:chExt cx="812800" cy="757493"/>
          </a:xfrm>
        </p:grpSpPr>
        <p:sp>
          <p:nvSpPr>
            <p:cNvPr id="169" name="Google Shape;169;p17"/>
            <p:cNvSpPr/>
            <p:nvPr/>
          </p:nvSpPr>
          <p:spPr>
            <a:xfrm>
              <a:off x="0" y="0"/>
              <a:ext cx="812800" cy="467000"/>
            </a:xfrm>
            <a:custGeom>
              <a:rect b="b" l="l" r="r" t="t"/>
              <a:pathLst>
                <a:path extrusionOk="0" h="467000" w="812800">
                  <a:moveTo>
                    <a:pt x="406400" y="467000"/>
                  </a:moveTo>
                  <a:lnTo>
                    <a:pt x="812800" y="0"/>
                  </a:lnTo>
                  <a:lnTo>
                    <a:pt x="0" y="0"/>
                  </a:lnTo>
                  <a:lnTo>
                    <a:pt x="406400" y="467000"/>
                  </a:lnTo>
                  <a:close/>
                </a:path>
              </a:pathLst>
            </a:custGeom>
            <a:solidFill>
              <a:srgbClr val="CDCDCD"/>
            </a:solidFill>
            <a:ln>
              <a:noFill/>
            </a:ln>
          </p:spPr>
        </p:sp>
        <p:sp>
          <p:nvSpPr>
            <p:cNvPr id="170" name="Google Shape;170;p17"/>
            <p:cNvSpPr txBox="1"/>
            <p:nvPr/>
          </p:nvSpPr>
          <p:spPr>
            <a:xfrm>
              <a:off x="127000" y="-290493"/>
              <a:ext cx="558800" cy="540671"/>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17"/>
          <p:cNvGrpSpPr/>
          <p:nvPr/>
        </p:nvGrpSpPr>
        <p:grpSpPr>
          <a:xfrm>
            <a:off x="8851201" y="6207426"/>
            <a:ext cx="586765" cy="546839"/>
            <a:chOff x="0" y="-290493"/>
            <a:chExt cx="812800" cy="757493"/>
          </a:xfrm>
        </p:grpSpPr>
        <p:sp>
          <p:nvSpPr>
            <p:cNvPr id="172" name="Google Shape;172;p17"/>
            <p:cNvSpPr/>
            <p:nvPr/>
          </p:nvSpPr>
          <p:spPr>
            <a:xfrm>
              <a:off x="0" y="0"/>
              <a:ext cx="812800" cy="467000"/>
            </a:xfrm>
            <a:custGeom>
              <a:rect b="b" l="l" r="r" t="t"/>
              <a:pathLst>
                <a:path extrusionOk="0" h="467000" w="812800">
                  <a:moveTo>
                    <a:pt x="406400" y="467000"/>
                  </a:moveTo>
                  <a:lnTo>
                    <a:pt x="812800" y="0"/>
                  </a:lnTo>
                  <a:lnTo>
                    <a:pt x="0" y="0"/>
                  </a:lnTo>
                  <a:lnTo>
                    <a:pt x="406400" y="467000"/>
                  </a:lnTo>
                  <a:close/>
                </a:path>
              </a:pathLst>
            </a:custGeom>
            <a:solidFill>
              <a:srgbClr val="CDCDCD"/>
            </a:solidFill>
            <a:ln>
              <a:noFill/>
            </a:ln>
          </p:spPr>
        </p:sp>
        <p:sp>
          <p:nvSpPr>
            <p:cNvPr id="173" name="Google Shape;173;p17"/>
            <p:cNvSpPr txBox="1"/>
            <p:nvPr/>
          </p:nvSpPr>
          <p:spPr>
            <a:xfrm>
              <a:off x="127000" y="-290493"/>
              <a:ext cx="558800" cy="540671"/>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4" name="Google Shape;174;p17"/>
          <p:cNvGrpSpPr/>
          <p:nvPr/>
        </p:nvGrpSpPr>
        <p:grpSpPr>
          <a:xfrm>
            <a:off x="14180447" y="6207426"/>
            <a:ext cx="586765" cy="546839"/>
            <a:chOff x="0" y="-290493"/>
            <a:chExt cx="812800" cy="757493"/>
          </a:xfrm>
        </p:grpSpPr>
        <p:sp>
          <p:nvSpPr>
            <p:cNvPr id="175" name="Google Shape;175;p17"/>
            <p:cNvSpPr/>
            <p:nvPr/>
          </p:nvSpPr>
          <p:spPr>
            <a:xfrm>
              <a:off x="0" y="0"/>
              <a:ext cx="812800" cy="467000"/>
            </a:xfrm>
            <a:custGeom>
              <a:rect b="b" l="l" r="r" t="t"/>
              <a:pathLst>
                <a:path extrusionOk="0" h="467000" w="812800">
                  <a:moveTo>
                    <a:pt x="406400" y="467000"/>
                  </a:moveTo>
                  <a:lnTo>
                    <a:pt x="812800" y="0"/>
                  </a:lnTo>
                  <a:lnTo>
                    <a:pt x="0" y="0"/>
                  </a:lnTo>
                  <a:lnTo>
                    <a:pt x="406400" y="467000"/>
                  </a:lnTo>
                  <a:close/>
                </a:path>
              </a:pathLst>
            </a:custGeom>
            <a:solidFill>
              <a:srgbClr val="CDCDCD"/>
            </a:solidFill>
            <a:ln>
              <a:noFill/>
            </a:ln>
          </p:spPr>
        </p:sp>
        <p:sp>
          <p:nvSpPr>
            <p:cNvPr id="176" name="Google Shape;176;p17"/>
            <p:cNvSpPr txBox="1"/>
            <p:nvPr/>
          </p:nvSpPr>
          <p:spPr>
            <a:xfrm>
              <a:off x="127000" y="-290493"/>
              <a:ext cx="558800" cy="540671"/>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17"/>
          <p:cNvSpPr txBox="1"/>
          <p:nvPr/>
        </p:nvSpPr>
        <p:spPr>
          <a:xfrm>
            <a:off x="2014550" y="4460600"/>
            <a:ext cx="3601500" cy="3693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b="1" lang="en-US" sz="2400">
                <a:solidFill>
                  <a:srgbClr val="6AA84F"/>
                </a:solidFill>
              </a:rPr>
              <a:t>アプリとしての完成度</a:t>
            </a:r>
            <a:endParaRPr>
              <a:solidFill>
                <a:srgbClr val="6AA84F"/>
              </a:solidFill>
            </a:endParaRPr>
          </a:p>
        </p:txBody>
      </p:sp>
      <p:sp>
        <p:nvSpPr>
          <p:cNvPr id="178" name="Google Shape;178;p17"/>
          <p:cNvSpPr txBox="1"/>
          <p:nvPr/>
        </p:nvSpPr>
        <p:spPr>
          <a:xfrm>
            <a:off x="7722775" y="4460605"/>
            <a:ext cx="2842200" cy="1034400"/>
          </a:xfrm>
          <a:prstGeom prst="rect">
            <a:avLst/>
          </a:prstGeom>
          <a:noFill/>
          <a:ln>
            <a:noFill/>
          </a:ln>
        </p:spPr>
        <p:txBody>
          <a:bodyPr anchorCtr="0" anchor="t" bIns="0" lIns="0" spcFirstLastPara="1" rIns="0" wrap="square" tIns="0">
            <a:spAutoFit/>
          </a:bodyPr>
          <a:lstStyle/>
          <a:p>
            <a:pPr indent="0" lvl="0" marL="0" marR="0" rtl="0" algn="ctr">
              <a:lnSpc>
                <a:spcPct val="180000"/>
              </a:lnSpc>
              <a:spcBef>
                <a:spcPts val="0"/>
              </a:spcBef>
              <a:spcAft>
                <a:spcPts val="0"/>
              </a:spcAft>
              <a:buNone/>
            </a:pPr>
            <a:r>
              <a:rPr b="1" lang="en-US" sz="2400">
                <a:solidFill>
                  <a:srgbClr val="6AA84F"/>
                </a:solidFill>
              </a:rPr>
              <a:t>データベースを用いたユーザー管理</a:t>
            </a:r>
            <a:endParaRPr>
              <a:solidFill>
                <a:srgbClr val="6AA84F"/>
              </a:solidFill>
            </a:endParaRPr>
          </a:p>
        </p:txBody>
      </p:sp>
      <p:sp>
        <p:nvSpPr>
          <p:cNvPr id="179" name="Google Shape;179;p17"/>
          <p:cNvSpPr txBox="1"/>
          <p:nvPr/>
        </p:nvSpPr>
        <p:spPr>
          <a:xfrm>
            <a:off x="13347350" y="4460600"/>
            <a:ext cx="2273700" cy="3693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1" lang="en-US" sz="2400">
                <a:solidFill>
                  <a:srgbClr val="373737"/>
                </a:solidFill>
              </a:rPr>
              <a:t> </a:t>
            </a:r>
            <a:r>
              <a:rPr b="1" lang="en-US" sz="2400">
                <a:solidFill>
                  <a:srgbClr val="6AA84F"/>
                </a:solidFill>
              </a:rPr>
              <a:t>親しみやすいUI</a:t>
            </a:r>
            <a:endParaRPr>
              <a:solidFill>
                <a:srgbClr val="6AA84F"/>
              </a:solidFill>
            </a:endParaRPr>
          </a:p>
        </p:txBody>
      </p:sp>
      <p:sp>
        <p:nvSpPr>
          <p:cNvPr id="180" name="Google Shape;180;p17"/>
          <p:cNvSpPr txBox="1"/>
          <p:nvPr/>
        </p:nvSpPr>
        <p:spPr>
          <a:xfrm>
            <a:off x="1555650" y="7164794"/>
            <a:ext cx="4519500" cy="1644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SzPts val="1100"/>
              <a:buNone/>
            </a:pPr>
            <a:r>
              <a:rPr lang="en-US" sz="2400">
                <a:solidFill>
                  <a:schemeClr val="dk1"/>
                </a:solidFill>
              </a:rPr>
              <a:t>割り勘の一機能だけに絞るのではなく、マイページの設定や予定管理なども備えた</a:t>
            </a:r>
            <a:r>
              <a:rPr b="1" lang="en-US" sz="2400">
                <a:solidFill>
                  <a:srgbClr val="E69138"/>
                </a:solidFill>
              </a:rPr>
              <a:t>アプリ全体としての構成</a:t>
            </a:r>
            <a:r>
              <a:rPr lang="en-US" sz="2400">
                <a:solidFill>
                  <a:schemeClr val="dk1"/>
                </a:solidFill>
              </a:rPr>
              <a:t>を意識。</a:t>
            </a:r>
            <a:endParaRPr sz="2400">
              <a:solidFill>
                <a:srgbClr val="373737"/>
              </a:solidFill>
            </a:endParaRPr>
          </a:p>
        </p:txBody>
      </p:sp>
      <p:sp>
        <p:nvSpPr>
          <p:cNvPr id="181" name="Google Shape;181;p17"/>
          <p:cNvSpPr txBox="1"/>
          <p:nvPr/>
        </p:nvSpPr>
        <p:spPr>
          <a:xfrm>
            <a:off x="6884773" y="7054044"/>
            <a:ext cx="4519500" cy="2142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400">
                <a:solidFill>
                  <a:schemeClr val="dk1"/>
                </a:solidFill>
              </a:rPr>
              <a:t>データベースを活用することで</a:t>
            </a:r>
            <a:r>
              <a:rPr b="1" lang="en-US" sz="2400">
                <a:solidFill>
                  <a:srgbClr val="FF9900"/>
                </a:solidFill>
              </a:rPr>
              <a:t>ユーザー管理</a:t>
            </a:r>
            <a:r>
              <a:rPr lang="en-US" sz="2400">
                <a:solidFill>
                  <a:schemeClr val="dk1"/>
                </a:solidFill>
              </a:rPr>
              <a:t>を実現し、グループ内での</a:t>
            </a:r>
            <a:r>
              <a:rPr b="1" lang="en-US" sz="2400">
                <a:solidFill>
                  <a:schemeClr val="accent6"/>
                </a:solidFill>
              </a:rPr>
              <a:t>共同作業</a:t>
            </a:r>
            <a:r>
              <a:rPr lang="en-US" sz="2400">
                <a:solidFill>
                  <a:schemeClr val="dk1"/>
                </a:solidFill>
              </a:rPr>
              <a:t>も可能にした。</a:t>
            </a:r>
            <a:endParaRPr sz="2400"/>
          </a:p>
        </p:txBody>
      </p:sp>
      <p:sp>
        <p:nvSpPr>
          <p:cNvPr id="182" name="Google Shape;182;p17"/>
          <p:cNvSpPr txBox="1"/>
          <p:nvPr/>
        </p:nvSpPr>
        <p:spPr>
          <a:xfrm>
            <a:off x="12214019" y="7054044"/>
            <a:ext cx="4519500" cy="2733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400">
                <a:solidFill>
                  <a:schemeClr val="dk1"/>
                </a:solidFill>
              </a:rPr>
              <a:t>サイドバーにより、楽にページ遷移できるようにしたり、イメージカラーを</a:t>
            </a:r>
            <a:r>
              <a:rPr b="1" lang="en-US" sz="2400">
                <a:solidFill>
                  <a:srgbClr val="6AA84F"/>
                </a:solidFill>
              </a:rPr>
              <a:t>緑</a:t>
            </a:r>
            <a:r>
              <a:rPr lang="en-US" sz="2400">
                <a:solidFill>
                  <a:schemeClr val="dk1"/>
                </a:solidFill>
              </a:rPr>
              <a:t>に設定することで親しみやすい雰囲気を意識しました。</a:t>
            </a:r>
            <a:endParaRPr sz="2400">
              <a:solidFill>
                <a:schemeClr val="dk1"/>
              </a:solidFill>
            </a:endParaRPr>
          </a:p>
        </p:txBody>
      </p:sp>
      <p:sp>
        <p:nvSpPr>
          <p:cNvPr id="183" name="Google Shape;183;p17"/>
          <p:cNvSpPr txBox="1"/>
          <p:nvPr/>
        </p:nvSpPr>
        <p:spPr>
          <a:xfrm>
            <a:off x="2981384" y="3577805"/>
            <a:ext cx="1665000" cy="369300"/>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400" u="none" cap="none" strike="noStrike">
                <a:solidFill>
                  <a:schemeClr val="dk1"/>
                </a:solidFill>
                <a:latin typeface="Ultra"/>
                <a:ea typeface="Ultra"/>
                <a:cs typeface="Ultra"/>
                <a:sym typeface="Ultra"/>
              </a:rPr>
              <a:t>01</a:t>
            </a:r>
            <a:endParaRPr>
              <a:solidFill>
                <a:schemeClr val="dk1"/>
              </a:solidFill>
            </a:endParaRPr>
          </a:p>
        </p:txBody>
      </p:sp>
      <p:sp>
        <p:nvSpPr>
          <p:cNvPr id="184" name="Google Shape;184;p17"/>
          <p:cNvSpPr txBox="1"/>
          <p:nvPr/>
        </p:nvSpPr>
        <p:spPr>
          <a:xfrm>
            <a:off x="8312033" y="3577805"/>
            <a:ext cx="1665000" cy="369300"/>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400" u="none" cap="none" strike="noStrike">
                <a:solidFill>
                  <a:schemeClr val="dk1"/>
                </a:solidFill>
                <a:latin typeface="Ultra"/>
                <a:ea typeface="Ultra"/>
                <a:cs typeface="Ultra"/>
                <a:sym typeface="Ultra"/>
              </a:rPr>
              <a:t>02</a:t>
            </a:r>
            <a:endParaRPr>
              <a:solidFill>
                <a:schemeClr val="dk1"/>
              </a:solidFill>
            </a:endParaRPr>
          </a:p>
        </p:txBody>
      </p:sp>
      <p:sp>
        <p:nvSpPr>
          <p:cNvPr id="185" name="Google Shape;185;p17"/>
          <p:cNvSpPr txBox="1"/>
          <p:nvPr/>
        </p:nvSpPr>
        <p:spPr>
          <a:xfrm>
            <a:off x="13641279" y="3577805"/>
            <a:ext cx="1665000" cy="369300"/>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1" i="0" lang="en-US" sz="2400" u="none" cap="none" strike="noStrike">
                <a:solidFill>
                  <a:schemeClr val="dk1"/>
                </a:solidFill>
                <a:latin typeface="Ultra"/>
                <a:ea typeface="Ultra"/>
                <a:cs typeface="Ultra"/>
                <a:sym typeface="Ultra"/>
              </a:rPr>
              <a:t>03</a:t>
            </a:r>
            <a:endParaRPr>
              <a:solidFill>
                <a:schemeClr val="dk1"/>
              </a:solidFill>
            </a:endParaRPr>
          </a:p>
        </p:txBody>
      </p:sp>
      <p:sp>
        <p:nvSpPr>
          <p:cNvPr id="186" name="Google Shape;186;p17"/>
          <p:cNvSpPr txBox="1"/>
          <p:nvPr/>
        </p:nvSpPr>
        <p:spPr>
          <a:xfrm>
            <a:off x="1089850" y="652550"/>
            <a:ext cx="1446000" cy="1108200"/>
          </a:xfrm>
          <a:prstGeom prst="rect">
            <a:avLst/>
          </a:prstGeom>
          <a:noFill/>
          <a:ln>
            <a:noFill/>
          </a:ln>
        </p:spPr>
        <p:txBody>
          <a:bodyPr anchorCtr="0" anchor="t" bIns="91425" lIns="91425" spcFirstLastPara="1" rIns="91425" wrap="square" tIns="91425">
            <a:spAutoFit/>
          </a:bodyPr>
          <a:lstStyle/>
          <a:p>
            <a:pPr indent="0" lvl="0" marL="0" rtl="0" algn="r">
              <a:lnSpc>
                <a:spcPct val="200000"/>
              </a:lnSpc>
              <a:spcBef>
                <a:spcPts val="0"/>
              </a:spcBef>
              <a:spcAft>
                <a:spcPts val="0"/>
              </a:spcAft>
              <a:buNone/>
            </a:pPr>
            <a:r>
              <a:rPr b="1" lang="en-US" sz="6000">
                <a:solidFill>
                  <a:srgbClr val="CDCDCD"/>
                </a:solidFill>
                <a:latin typeface="Ultra"/>
                <a:ea typeface="Ultra"/>
                <a:cs typeface="Ultra"/>
                <a:sym typeface="Ultra"/>
              </a:rPr>
              <a:t>02</a:t>
            </a:r>
            <a:endParaRPr sz="6000">
              <a:solidFill>
                <a:schemeClr val="dk1"/>
              </a:solidFill>
            </a:endParaRPr>
          </a:p>
        </p:txBody>
      </p:sp>
      <p:sp>
        <p:nvSpPr>
          <p:cNvPr id="187" name="Google Shape;187;p17"/>
          <p:cNvSpPr txBox="1"/>
          <p:nvPr/>
        </p:nvSpPr>
        <p:spPr>
          <a:xfrm>
            <a:off x="2981375" y="652538"/>
            <a:ext cx="7403700" cy="923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lang="en-US" sz="6000">
                <a:solidFill>
                  <a:srgbClr val="373737"/>
                </a:solidFill>
              </a:rPr>
              <a:t>ポイント</a:t>
            </a:r>
            <a:endParaRPr sz="6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p18"/>
          <p:cNvGrpSpPr/>
          <p:nvPr/>
        </p:nvGrpSpPr>
        <p:grpSpPr>
          <a:xfrm>
            <a:off x="514929" y="5843322"/>
            <a:ext cx="17459823" cy="3973406"/>
            <a:chOff x="0" y="-323850"/>
            <a:chExt cx="4508204" cy="1025951"/>
          </a:xfrm>
        </p:grpSpPr>
        <p:sp>
          <p:nvSpPr>
            <p:cNvPr id="193" name="Google Shape;193;p18"/>
            <p:cNvSpPr/>
            <p:nvPr/>
          </p:nvSpPr>
          <p:spPr>
            <a:xfrm>
              <a:off x="0" y="0"/>
              <a:ext cx="4508204" cy="702101"/>
            </a:xfrm>
            <a:custGeom>
              <a:rect b="b" l="l" r="r" t="t"/>
              <a:pathLst>
                <a:path extrusionOk="0" h="702101" w="4508204">
                  <a:moveTo>
                    <a:pt x="0" y="0"/>
                  </a:moveTo>
                  <a:lnTo>
                    <a:pt x="4508204" y="0"/>
                  </a:lnTo>
                  <a:lnTo>
                    <a:pt x="4508204" y="702101"/>
                  </a:lnTo>
                  <a:lnTo>
                    <a:pt x="0" y="702101"/>
                  </a:lnTo>
                  <a:close/>
                </a:path>
              </a:pathLst>
            </a:custGeom>
            <a:solidFill>
              <a:srgbClr val="F8F8F8"/>
            </a:solidFill>
            <a:ln>
              <a:noFill/>
            </a:ln>
          </p:spPr>
        </p:sp>
        <p:sp>
          <p:nvSpPr>
            <p:cNvPr id="194" name="Google Shape;194;p18"/>
            <p:cNvSpPr txBox="1"/>
            <p:nvPr/>
          </p:nvSpPr>
          <p:spPr>
            <a:xfrm>
              <a:off x="0" y="-323850"/>
              <a:ext cx="4508204" cy="1025951"/>
            </a:xfrm>
            <a:prstGeom prst="rect">
              <a:avLst/>
            </a:prstGeom>
            <a:noFill/>
            <a:ln>
              <a:noFill/>
            </a:ln>
          </p:spPr>
          <p:txBody>
            <a:bodyPr anchorCtr="0" anchor="ctr" bIns="50800" lIns="50800" spcFirstLastPara="1" rIns="50800" wrap="square" tIns="50800">
              <a:noAutofit/>
            </a:bodyPr>
            <a:lstStyle/>
            <a:p>
              <a:pPr indent="0" lvl="0" marL="0" marR="0" rtl="0" algn="ctr">
                <a:lnSpc>
                  <a:spcPct val="21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5" name="Google Shape;195;p18"/>
          <p:cNvSpPr txBox="1"/>
          <p:nvPr/>
        </p:nvSpPr>
        <p:spPr>
          <a:xfrm>
            <a:off x="6333963" y="7566125"/>
            <a:ext cx="5241000" cy="1440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3600">
                <a:solidFill>
                  <a:srgbClr val="373737"/>
                </a:solidFill>
              </a:rPr>
              <a:t>チーム　おなご</a:t>
            </a:r>
            <a:endParaRPr b="1" sz="3600">
              <a:solidFill>
                <a:srgbClr val="373737"/>
              </a:solidFill>
            </a:endParaRPr>
          </a:p>
          <a:p>
            <a:pPr indent="0" lvl="0" marL="0" marR="0" rtl="0" algn="l">
              <a:lnSpc>
                <a:spcPct val="160000"/>
              </a:lnSpc>
              <a:spcBef>
                <a:spcPts val="0"/>
              </a:spcBef>
              <a:spcAft>
                <a:spcPts val="0"/>
              </a:spcAft>
              <a:buNone/>
            </a:pPr>
            <a:r>
              <a:rPr b="1" lang="en-US" sz="3600">
                <a:solidFill>
                  <a:srgbClr val="373737"/>
                </a:solidFill>
              </a:rPr>
              <a:t>長岡美甫　/　中本明里</a:t>
            </a:r>
            <a:endParaRPr sz="3600"/>
          </a:p>
        </p:txBody>
      </p:sp>
      <p:sp>
        <p:nvSpPr>
          <p:cNvPr id="196" name="Google Shape;196;p18"/>
          <p:cNvSpPr/>
          <p:nvPr/>
        </p:nvSpPr>
        <p:spPr>
          <a:xfrm>
            <a:off x="5909095" y="4841759"/>
            <a:ext cx="5956262" cy="770427"/>
          </a:xfrm>
          <a:custGeom>
            <a:rect b="b" l="l" r="r" t="t"/>
            <a:pathLst>
              <a:path extrusionOk="0" h="139760" w="1080501">
                <a:moveTo>
                  <a:pt x="69880" y="0"/>
                </a:moveTo>
                <a:lnTo>
                  <a:pt x="1010621" y="0"/>
                </a:lnTo>
                <a:cubicBezTo>
                  <a:pt x="1049215" y="0"/>
                  <a:pt x="1080501" y="31286"/>
                  <a:pt x="1080501" y="69880"/>
                </a:cubicBezTo>
                <a:lnTo>
                  <a:pt x="1080501" y="69880"/>
                </a:lnTo>
                <a:cubicBezTo>
                  <a:pt x="1080501" y="108474"/>
                  <a:pt x="1049215" y="139760"/>
                  <a:pt x="1010621" y="139760"/>
                </a:cubicBezTo>
                <a:lnTo>
                  <a:pt x="69880" y="139760"/>
                </a:lnTo>
                <a:cubicBezTo>
                  <a:pt x="31286" y="139760"/>
                  <a:pt x="0" y="108474"/>
                  <a:pt x="0" y="69880"/>
                </a:cubicBezTo>
                <a:lnTo>
                  <a:pt x="0" y="69880"/>
                </a:lnTo>
                <a:cubicBezTo>
                  <a:pt x="0" y="31286"/>
                  <a:pt x="31286" y="0"/>
                  <a:pt x="69880" y="0"/>
                </a:cubicBezTo>
                <a:close/>
              </a:path>
            </a:pathLst>
          </a:custGeom>
          <a:solidFill>
            <a:srgbClr val="FFFFFF"/>
          </a:solidFill>
          <a:ln cap="rnd" cmpd="sng" w="19050">
            <a:solidFill>
              <a:srgbClr val="3737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8"/>
          <p:cNvSpPr txBox="1"/>
          <p:nvPr/>
        </p:nvSpPr>
        <p:spPr>
          <a:xfrm>
            <a:off x="7387388" y="5042325"/>
            <a:ext cx="3714900" cy="369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2400">
                <a:solidFill>
                  <a:srgbClr val="373737"/>
                </a:solidFill>
              </a:rPr>
              <a:t>ありがとうございました！</a:t>
            </a:r>
            <a:endParaRPr/>
          </a:p>
        </p:txBody>
      </p:sp>
      <p:sp>
        <p:nvSpPr>
          <p:cNvPr id="198" name="Google Shape;198;p18"/>
          <p:cNvSpPr/>
          <p:nvPr/>
        </p:nvSpPr>
        <p:spPr>
          <a:xfrm>
            <a:off x="6523481" y="5007349"/>
            <a:ext cx="439252" cy="439252"/>
          </a:xfrm>
          <a:custGeom>
            <a:rect b="b" l="l" r="r" t="t"/>
            <a:pathLst>
              <a:path extrusionOk="0" h="439252" w="439252">
                <a:moveTo>
                  <a:pt x="0" y="0"/>
                </a:moveTo>
                <a:lnTo>
                  <a:pt x="439251" y="0"/>
                </a:lnTo>
                <a:lnTo>
                  <a:pt x="439251" y="439252"/>
                </a:lnTo>
                <a:lnTo>
                  <a:pt x="0" y="439252"/>
                </a:lnTo>
                <a:lnTo>
                  <a:pt x="0" y="0"/>
                </a:lnTo>
                <a:close/>
              </a:path>
            </a:pathLst>
          </a:custGeom>
          <a:blipFill rotWithShape="1">
            <a:blip r:embed="rId3">
              <a:alphaModFix/>
            </a:blip>
            <a:stretch>
              <a:fillRect b="0" l="0" r="0" t="0"/>
            </a:stretch>
          </a:blipFill>
          <a:ln>
            <a:noFill/>
          </a:ln>
        </p:spPr>
      </p:sp>
      <p:pic>
        <p:nvPicPr>
          <p:cNvPr id="199" name="Google Shape;199;p18"/>
          <p:cNvPicPr preferRelativeResize="0"/>
          <p:nvPr/>
        </p:nvPicPr>
        <p:blipFill>
          <a:blip r:embed="rId4">
            <a:alphaModFix/>
          </a:blip>
          <a:stretch>
            <a:fillRect/>
          </a:stretch>
        </p:blipFill>
        <p:spPr>
          <a:xfrm>
            <a:off x="6866125" y="597733"/>
            <a:ext cx="4042200" cy="371034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